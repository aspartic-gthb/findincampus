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nton" pitchFamily="2" charset="0"/>
      <p:regular r:id="rId9"/>
    </p:embeddedFont>
    <p:embeddedFont>
      <p:font typeface="Impact" panose="020B0806030902050204" pitchFamily="34" charset="0"/>
      <p:regular r:id="rId10"/>
    </p:embeddedFont>
    <p:embeddedFont>
      <p:font typeface="Poppins" panose="00000500000000000000" pitchFamily="2" charset="0"/>
      <p:regular r:id="rId11"/>
    </p:embeddedFon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21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66517">
            <a:off x="8172982" y="-1473762"/>
            <a:ext cx="12307770" cy="7200900"/>
          </a:xfrm>
          <a:custGeom>
            <a:avLst/>
            <a:gdLst/>
            <a:ahLst/>
            <a:cxnLst/>
            <a:rect l="l" t="t" r="r" b="b"/>
            <a:pathLst>
              <a:path w="12307770" h="720090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493551">
            <a:off x="-3091661" y="3509943"/>
            <a:ext cx="15325477" cy="8242765"/>
          </a:xfrm>
          <a:custGeom>
            <a:avLst/>
            <a:gdLst/>
            <a:ahLst/>
            <a:cxnLst/>
            <a:rect l="l" t="t" r="r" b="b"/>
            <a:pathLst>
              <a:path w="15325477" h="8242765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350042" y="349542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84372" y="2302347"/>
            <a:ext cx="14319257" cy="284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FIND IN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4950" y="4715764"/>
            <a:ext cx="5318100" cy="712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3"/>
              </a:lnSpc>
            </a:pPr>
            <a:r>
              <a:rPr lang="en-US" sz="3799" b="1" spc="8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5184" y="6053221"/>
            <a:ext cx="15634116" cy="130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2"/>
              </a:lnSpc>
            </a:pPr>
            <a:r>
              <a:rPr lang="en-US" sz="6851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PRESENTED BY 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583" y="7041237"/>
            <a:ext cx="17922833" cy="153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2"/>
              </a:lnSpc>
            </a:pPr>
            <a:r>
              <a:rPr lang="en-US" sz="8080">
                <a:solidFill>
                  <a:srgbClr val="FF751F"/>
                </a:solidFill>
                <a:latin typeface="Impact"/>
                <a:ea typeface="Impact"/>
                <a:cs typeface="Impact"/>
                <a:sym typeface="Impact"/>
              </a:rPr>
              <a:t>TEAM RIPON HACKS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31060" y="-4855276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14" y="266700"/>
            <a:ext cx="4932403" cy="10808055"/>
          </a:xfrm>
          <a:custGeom>
            <a:avLst/>
            <a:gdLst/>
            <a:ahLst/>
            <a:cxnLst/>
            <a:rect l="l" t="t" r="r" b="b"/>
            <a:pathLst>
              <a:path w="4932403" h="10808055">
                <a:moveTo>
                  <a:pt x="0" y="0"/>
                </a:moveTo>
                <a:lnTo>
                  <a:pt x="4932403" y="0"/>
                </a:lnTo>
                <a:lnTo>
                  <a:pt x="4932403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917121" y="6432728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272738" y="2928804"/>
            <a:ext cx="8848708" cy="117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5"/>
              </a:lnSpc>
            </a:pPr>
            <a:r>
              <a:rPr lang="en-US" sz="6503" b="1" dirty="0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Smart Lost &amp; Found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24200" y="1387893"/>
            <a:ext cx="15163800" cy="1693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702"/>
              </a:lnSpc>
            </a:pPr>
            <a:r>
              <a:rPr lang="en-US" sz="10500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0158" y="5285020"/>
            <a:ext cx="11986562" cy="397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25"/>
              </a:lnSpc>
            </a:pPr>
            <a:r>
              <a:rPr lang="en-US" sz="444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 :</a:t>
            </a:r>
            <a:r>
              <a:rPr lang="en-US" sz="4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To create a platform to</a:t>
            </a:r>
          </a:p>
          <a:p>
            <a:pPr algn="just">
              <a:lnSpc>
                <a:spcPts val="6225"/>
              </a:lnSpc>
            </a:pPr>
            <a:r>
              <a:rPr lang="en-US" sz="4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 lost and found item and </a:t>
            </a:r>
          </a:p>
          <a:p>
            <a:pPr algn="just">
              <a:lnSpc>
                <a:spcPts val="6225"/>
              </a:lnSpc>
            </a:pPr>
            <a:r>
              <a:rPr lang="en-US" sz="4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intelligently match them based on </a:t>
            </a:r>
          </a:p>
          <a:p>
            <a:pPr algn="just">
              <a:lnSpc>
                <a:spcPts val="6225"/>
              </a:lnSpc>
            </a:pPr>
            <a:r>
              <a:rPr lang="en-US" sz="4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available data.</a:t>
            </a:r>
          </a:p>
          <a:p>
            <a:pPr algn="just">
              <a:lnSpc>
                <a:spcPts val="6225"/>
              </a:lnSpc>
            </a:pPr>
            <a:endParaRPr lang="en-US" sz="444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272738" y="3655031"/>
            <a:ext cx="9857913" cy="117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5"/>
              </a:lnSpc>
            </a:pPr>
            <a:r>
              <a:rPr lang="en-US" sz="6503" b="1" dirty="0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4342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91324" y="866775"/>
            <a:ext cx="11218550" cy="196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05"/>
              </a:lnSpc>
            </a:pPr>
            <a:r>
              <a:rPr lang="en-US" sz="1186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OUR APPROACH</a:t>
            </a:r>
          </a:p>
        </p:txBody>
      </p:sp>
      <p:sp>
        <p:nvSpPr>
          <p:cNvPr id="4" name="Freeform 4"/>
          <p:cNvSpPr/>
          <p:nvPr/>
        </p:nvSpPr>
        <p:spPr>
          <a:xfrm>
            <a:off x="14783217" y="-964573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977938"/>
            <a:ext cx="15012632" cy="555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973" lvl="1" indent="-310486" algn="l">
              <a:lnSpc>
                <a:spcPts val="4026"/>
              </a:lnSpc>
              <a:buFont typeface="Arial"/>
              <a:buChar char="•"/>
            </a:pPr>
            <a:r>
              <a:rPr lang="en-US" sz="2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Unification :  </a:t>
            </a:r>
            <a:r>
              <a:rPr lang="en-US" sz="2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a single, accessible platform dedicated exclusively to managing campus lost-and-found.</a:t>
            </a:r>
          </a:p>
          <a:p>
            <a:pPr algn="l">
              <a:lnSpc>
                <a:spcPts val="4026"/>
              </a:lnSpc>
            </a:pPr>
            <a:endParaRPr lang="en-US" sz="287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0973" lvl="1" indent="-310486" algn="l">
              <a:lnSpc>
                <a:spcPts val="4026"/>
              </a:lnSpc>
              <a:buFont typeface="Arial"/>
              <a:buChar char="•"/>
            </a:pPr>
            <a:r>
              <a:rPr lang="en-US" sz="2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 Aware : </a:t>
            </a:r>
            <a:r>
              <a:rPr lang="en-US" sz="2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Utilize geolocation so users can pinpoint exactly where an item was lost or found.</a:t>
            </a:r>
          </a:p>
          <a:p>
            <a:pPr algn="l">
              <a:lnSpc>
                <a:spcPts val="4026"/>
              </a:lnSpc>
            </a:pPr>
            <a:endParaRPr lang="en-US" sz="287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0973" lvl="1" indent="-310486" algn="l">
              <a:lnSpc>
                <a:spcPts val="4026"/>
              </a:lnSpc>
              <a:buFont typeface="Arial"/>
              <a:buChar char="•"/>
            </a:pPr>
            <a:r>
              <a:rPr lang="en-US" sz="2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Algorithmic Assistance</a:t>
            </a:r>
            <a:r>
              <a:rPr lang="en-US" sz="2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Move away from manual searching by building intelligent matching algorithms that suggest potential item correlations.</a:t>
            </a:r>
          </a:p>
          <a:p>
            <a:pPr algn="l">
              <a:lnSpc>
                <a:spcPts val="4026"/>
              </a:lnSpc>
            </a:pPr>
            <a:endParaRPr lang="en-US" sz="287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0973" lvl="1" indent="-310486" algn="l">
              <a:lnSpc>
                <a:spcPts val="4026"/>
              </a:lnSpc>
              <a:buFont typeface="Arial"/>
              <a:buChar char="•"/>
            </a:pPr>
            <a:r>
              <a:rPr lang="en-US" sz="28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Privacy-First: </a:t>
            </a:r>
            <a:r>
              <a:rPr lang="en-US" sz="28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an off-public messaging and claim verification system to protect student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1070" y="657225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56062" y="5658901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631070" y="7330450"/>
            <a:ext cx="4465991" cy="4465991"/>
          </a:xfrm>
          <a:custGeom>
            <a:avLst/>
            <a:gdLst/>
            <a:ahLst/>
            <a:cxnLst/>
            <a:rect l="l" t="t" r="r" b="b"/>
            <a:pathLst>
              <a:path w="4465991" h="4465991">
                <a:moveTo>
                  <a:pt x="0" y="0"/>
                </a:moveTo>
                <a:lnTo>
                  <a:pt x="4465991" y="0"/>
                </a:lnTo>
                <a:lnTo>
                  <a:pt x="4465991" y="4465990"/>
                </a:lnTo>
                <a:lnTo>
                  <a:pt x="0" y="4465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354627" y="7119246"/>
            <a:ext cx="1701501" cy="1701501"/>
          </a:xfrm>
          <a:custGeom>
            <a:avLst/>
            <a:gdLst/>
            <a:ahLst/>
            <a:cxnLst/>
            <a:rect l="l" t="t" r="r" b="b"/>
            <a:pathLst>
              <a:path w="1701501" h="1701501">
                <a:moveTo>
                  <a:pt x="0" y="0"/>
                </a:moveTo>
                <a:lnTo>
                  <a:pt x="1701502" y="0"/>
                </a:lnTo>
                <a:lnTo>
                  <a:pt x="1701502" y="1701501"/>
                </a:lnTo>
                <a:lnTo>
                  <a:pt x="0" y="17015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87092" y="1568367"/>
            <a:ext cx="5636572" cy="5762083"/>
          </a:xfrm>
          <a:custGeom>
            <a:avLst/>
            <a:gdLst/>
            <a:ahLst/>
            <a:cxnLst/>
            <a:rect l="l" t="t" r="r" b="b"/>
            <a:pathLst>
              <a:path w="5636572" h="5762083">
                <a:moveTo>
                  <a:pt x="0" y="0"/>
                </a:moveTo>
                <a:lnTo>
                  <a:pt x="5636572" y="0"/>
                </a:lnTo>
                <a:lnTo>
                  <a:pt x="5636572" y="5762083"/>
                </a:lnTo>
                <a:lnTo>
                  <a:pt x="0" y="5762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662863" y="7119246"/>
            <a:ext cx="3603179" cy="1701501"/>
          </a:xfrm>
          <a:custGeom>
            <a:avLst/>
            <a:gdLst/>
            <a:ahLst/>
            <a:cxnLst/>
            <a:rect l="l" t="t" r="r" b="b"/>
            <a:pathLst>
              <a:path w="3603179" h="1701501">
                <a:moveTo>
                  <a:pt x="0" y="0"/>
                </a:moveTo>
                <a:lnTo>
                  <a:pt x="3603179" y="0"/>
                </a:lnTo>
                <a:lnTo>
                  <a:pt x="3603179" y="1701501"/>
                </a:lnTo>
                <a:lnTo>
                  <a:pt x="0" y="17015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47214" y="7119246"/>
            <a:ext cx="2900679" cy="1701501"/>
          </a:xfrm>
          <a:custGeom>
            <a:avLst/>
            <a:gdLst/>
            <a:ahLst/>
            <a:cxnLst/>
            <a:rect l="l" t="t" r="r" b="b"/>
            <a:pathLst>
              <a:path w="2900679" h="1701501">
                <a:moveTo>
                  <a:pt x="0" y="0"/>
                </a:moveTo>
                <a:lnTo>
                  <a:pt x="2900678" y="0"/>
                </a:lnTo>
                <a:lnTo>
                  <a:pt x="2900678" y="1701501"/>
                </a:lnTo>
                <a:lnTo>
                  <a:pt x="0" y="17015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6725" b="-3754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100791" y="552362"/>
            <a:ext cx="8209174" cy="195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84"/>
              </a:lnSpc>
            </a:pPr>
            <a:r>
              <a:rPr lang="en-US" sz="1193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TECH STACK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86311" y="2353901"/>
            <a:ext cx="4196314" cy="95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40"/>
              </a:lnSpc>
            </a:pPr>
            <a:r>
              <a:rPr lang="en-US" sz="5314" b="1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86311" y="5886450"/>
            <a:ext cx="4196314" cy="95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40"/>
              </a:lnSpc>
            </a:pPr>
            <a:r>
              <a:rPr lang="en-US" sz="5314" b="1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: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434040" y="-1575770"/>
            <a:ext cx="4465991" cy="4465991"/>
          </a:xfrm>
          <a:custGeom>
            <a:avLst/>
            <a:gdLst/>
            <a:ahLst/>
            <a:cxnLst/>
            <a:rect l="l" t="t" r="r" b="b"/>
            <a:pathLst>
              <a:path w="4465991" h="4465991">
                <a:moveTo>
                  <a:pt x="0" y="0"/>
                </a:moveTo>
                <a:lnTo>
                  <a:pt x="4465990" y="0"/>
                </a:lnTo>
                <a:lnTo>
                  <a:pt x="4465990" y="4465990"/>
                </a:lnTo>
                <a:lnTo>
                  <a:pt x="0" y="4465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4342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37684" y="746532"/>
            <a:ext cx="9408408" cy="197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3"/>
              </a:lnSpc>
            </a:pPr>
            <a:r>
              <a:rPr lang="en-US" sz="11887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THE SOLUTION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4783217" y="-964573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37684" y="4171318"/>
            <a:ext cx="15012632" cy="224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3688" lvl="1" indent="-396844" algn="l">
              <a:lnSpc>
                <a:spcPts val="5146"/>
              </a:lnSpc>
              <a:buFont typeface="Arial"/>
              <a:buChar char="•"/>
            </a:pPr>
            <a:r>
              <a:rPr lang="en-US" sz="36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Map &amp; HeatMaps : </a:t>
            </a:r>
          </a:p>
          <a:p>
            <a:pPr algn="l">
              <a:lnSpc>
                <a:spcPts val="4166"/>
              </a:lnSpc>
            </a:pPr>
            <a:r>
              <a:rPr lang="en-US" sz="2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* </a:t>
            </a: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can drop exact location pins for items.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* Heatmaps allow campus security or students to identify high-risk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“loss hotspots”.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7684" y="2897890"/>
            <a:ext cx="14708363" cy="103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85"/>
              </a:lnSpc>
            </a:pPr>
            <a:r>
              <a:rPr lang="en-US" sz="5703" b="1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Introducing FindInCampus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7684" y="7009160"/>
            <a:ext cx="15012632" cy="224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3688" lvl="1" indent="-396844" algn="l">
              <a:lnSpc>
                <a:spcPts val="5146"/>
              </a:lnSpc>
              <a:buFont typeface="Arial"/>
              <a:buChar char="•"/>
            </a:pPr>
            <a:r>
              <a:rPr lang="en-US" sz="36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Intelligent Item Matching : </a:t>
            </a:r>
          </a:p>
          <a:p>
            <a:pPr algn="l">
              <a:lnSpc>
                <a:spcPts val="4166"/>
              </a:lnSpc>
            </a:pPr>
            <a:r>
              <a:rPr lang="en-US" sz="2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* </a:t>
            </a: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Built-in semantic heuristics compare items.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* It automatically recommends correlations between newly reported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constraints and existing database entries.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82307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49470" y="0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856295"/>
            <a:ext cx="15012632" cy="224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3688" lvl="1" indent="-396844" algn="l">
              <a:lnSpc>
                <a:spcPts val="5146"/>
              </a:lnSpc>
              <a:buFont typeface="Arial"/>
              <a:buChar char="•"/>
            </a:pPr>
            <a:r>
              <a:rPr lang="en-US" sz="36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Resolution Workflow : </a:t>
            </a:r>
          </a:p>
          <a:p>
            <a:pPr algn="l">
              <a:lnSpc>
                <a:spcPts val="4166"/>
              </a:lnSpc>
            </a:pPr>
            <a:r>
              <a:rPr lang="en-US" sz="2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*</a:t>
            </a: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robust “Claim” system requiring owners to submit detailed proof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of ownership.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* Status tracks from “Reported” to “Resolved”.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32968" y="1453561"/>
            <a:ext cx="14708363" cy="103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85"/>
              </a:lnSpc>
            </a:pPr>
            <a:r>
              <a:rPr lang="en-US" sz="5703" b="1">
                <a:solidFill>
                  <a:srgbClr val="FF751F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Workflows &amp; Resolution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694137"/>
            <a:ext cx="15012632" cy="224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3688" lvl="1" indent="-396844" algn="l">
              <a:lnSpc>
                <a:spcPts val="5146"/>
              </a:lnSpc>
              <a:buFont typeface="Arial"/>
              <a:buChar char="•"/>
            </a:pPr>
            <a:r>
              <a:rPr lang="en-US" sz="36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Integrated Secure Chat : </a:t>
            </a:r>
          </a:p>
          <a:p>
            <a:pPr algn="l">
              <a:lnSpc>
                <a:spcPts val="4166"/>
              </a:lnSpc>
            </a:pPr>
            <a:r>
              <a:rPr lang="en-US" sz="297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* </a:t>
            </a: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Peer-to-peer messaging system.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* Offloads public listing exposure; finders and owners communicate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privately.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501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78375">
            <a:off x="8323700" y="-4291982"/>
            <a:ext cx="15959856" cy="8583964"/>
          </a:xfrm>
          <a:custGeom>
            <a:avLst/>
            <a:gdLst/>
            <a:ahLst/>
            <a:cxnLst/>
            <a:rect l="l" t="t" r="r" b="b"/>
            <a:pathLst>
              <a:path w="15959856" h="8583964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84372" y="3726507"/>
            <a:ext cx="14319257" cy="2548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rot="1366517">
            <a:off x="-1768901" y="4979430"/>
            <a:ext cx="12307770" cy="7200900"/>
          </a:xfrm>
          <a:custGeom>
            <a:avLst/>
            <a:gdLst/>
            <a:ahLst/>
            <a:cxnLst/>
            <a:rect l="l" t="t" r="r" b="b"/>
            <a:pathLst>
              <a:path w="12307770" h="720090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243</Words>
  <Application>Microsoft Office PowerPoint</Application>
  <PresentationFormat>Custom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Anton</vt:lpstr>
      <vt:lpstr>Impact</vt:lpstr>
      <vt:lpstr>Poppins</vt:lpstr>
      <vt:lpstr>Calibri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Company</dc:title>
  <dc:creator>MARUF</dc:creator>
  <cp:lastModifiedBy>Maruf Alam</cp:lastModifiedBy>
  <cp:revision>3</cp:revision>
  <dcterms:created xsi:type="dcterms:W3CDTF">2006-08-16T00:00:00Z</dcterms:created>
  <dcterms:modified xsi:type="dcterms:W3CDTF">2026-04-18T20:50:52Z</dcterms:modified>
  <dc:identifier>DAHHOh0EVOY</dc:identifier>
</cp:coreProperties>
</file>